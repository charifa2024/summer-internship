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Noto Serif" charset="1" panose="02020600060500020200"/>
      <p:regular r:id="rId18"/>
    </p:embeddedFont>
    <p:embeddedFont>
      <p:font typeface="Noto Serif Bold" charset="1" panose="020208000605000202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8.jpeg" Type="http://schemas.openxmlformats.org/officeDocument/2006/relationships/image"/><Relationship Id="rId4" Target="../media/image7.jpe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0.jpeg" Type="http://schemas.openxmlformats.org/officeDocument/2006/relationships/image"/><Relationship Id="rId4" Target="../media/image21.pn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550596"/>
            <a:ext cx="3600898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9C9283"/>
                </a:solidFill>
                <a:latin typeface="Noto Serif"/>
                <a:ea typeface="Noto Serif"/>
                <a:cs typeface="Noto Serif"/>
                <a:sym typeface="Noto Serif"/>
              </a:rPr>
              <a:t>PIPELINE DATA SCIENCE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981155"/>
            <a:ext cx="9165431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Pipeline Data Science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083969"/>
            <a:ext cx="1007983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Analyse des perceptions des développeurs face à l'IA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858948" y="3456089"/>
            <a:ext cx="38100" cy="1417291"/>
            <a:chOff x="0" y="0"/>
            <a:chExt cx="50800" cy="18897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1889760"/>
            </a:xfrm>
            <a:custGeom>
              <a:avLst/>
              <a:gdLst/>
              <a:ahLst/>
              <a:cxnLst/>
              <a:rect r="r" b="b" t="t" l="l"/>
              <a:pathLst>
                <a:path h="1889760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864360"/>
                  </a:lnTo>
                  <a:cubicBezTo>
                    <a:pt x="50800" y="1878330"/>
                    <a:pt x="39370" y="1889760"/>
                    <a:pt x="25400" y="1889760"/>
                  </a:cubicBezTo>
                  <a:cubicBezTo>
                    <a:pt x="11430" y="1889760"/>
                    <a:pt x="0" y="1878330"/>
                    <a:pt x="0" y="1864360"/>
                  </a:cubicBezTo>
                  <a:close/>
                </a:path>
              </a:pathLst>
            </a:custGeom>
            <a:solidFill>
              <a:srgbClr val="9C928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284144" y="3625453"/>
            <a:ext cx="602099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Collecte multi-source · NLP · Sentiment · Topics · Dashboard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6268193"/>
            <a:ext cx="16303523" cy="38100"/>
            <a:chOff x="0" y="0"/>
            <a:chExt cx="21738031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8082" cy="50800"/>
            </a:xfrm>
            <a:custGeom>
              <a:avLst/>
              <a:gdLst/>
              <a:ahLst/>
              <a:cxnLst/>
              <a:rect r="r" b="b" t="t" l="l"/>
              <a:pathLst>
                <a:path h="50800" w="21738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C4C4C">
                <a:alpha val="24706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6610350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Charifa FAX</a:t>
            </a: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· Stage d'été 2026 · YaneCode Digital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40323"/>
            <a:ext cx="1630352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Contexte et problématique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384822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Pourquoi analyser les discussions des développeurs sur l'intelligence artificielle ?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3243110"/>
            <a:ext cx="5245446" cy="3978031"/>
          </a:xfrm>
          <a:custGeom>
            <a:avLst/>
            <a:gdLst/>
            <a:ahLst/>
            <a:cxnLst/>
            <a:rect r="r" b="b" t="t" l="l"/>
            <a:pathLst>
              <a:path h="3978031" w="5245446">
                <a:moveTo>
                  <a:pt x="0" y="0"/>
                </a:moveTo>
                <a:lnTo>
                  <a:pt x="5245446" y="0"/>
                </a:lnTo>
                <a:lnTo>
                  <a:pt x="5245446" y="3978031"/>
                </a:lnTo>
                <a:lnTo>
                  <a:pt x="0" y="39780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66250" y="3545681"/>
            <a:ext cx="444981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Adoption rapide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6250" y="4092026"/>
            <a:ext cx="4449813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ChatGPT, GitHub Copilot, Cursor, Claude et Gemini modifient déjà la façon de coder, chercher, apprendre et résoudre des problèmes.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21206" y="3243110"/>
            <a:ext cx="5245446" cy="3978031"/>
            <a:chOff x="0" y="0"/>
            <a:chExt cx="6993928" cy="530404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6993890" cy="5304028"/>
            </a:xfrm>
            <a:custGeom>
              <a:avLst/>
              <a:gdLst/>
              <a:ahLst/>
              <a:cxnLst/>
              <a:rect r="r" b="b" t="t" l="l"/>
              <a:pathLst>
                <a:path h="5304028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304028"/>
                  </a:lnTo>
                  <a:lnTo>
                    <a:pt x="0" y="5304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" r="0" b="-1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995217" y="3545681"/>
            <a:ext cx="444981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Perceptions contrastées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95217" y="4092026"/>
            <a:ext cx="4449813" cy="280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Les développeurs évoquent des gains de productivité, mais aussi des hallucinations, des bugs, des problèmes de confiance, de confidentialité et de dépendance.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50163" y="3243110"/>
            <a:ext cx="5245446" cy="3978031"/>
            <a:chOff x="0" y="0"/>
            <a:chExt cx="6993928" cy="5304041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6993890" cy="5304028"/>
            </a:xfrm>
            <a:custGeom>
              <a:avLst/>
              <a:gdLst/>
              <a:ahLst/>
              <a:cxnLst/>
              <a:rect r="r" b="b" t="t" l="l"/>
              <a:pathLst>
                <a:path h="5304028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304028"/>
                  </a:lnTo>
                  <a:lnTo>
                    <a:pt x="0" y="5304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" r="0" b="-16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524184" y="3545681"/>
            <a:ext cx="444981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Enjeu humain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24184" y="4092026"/>
            <a:ext cx="4449813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Les discussions révèlent du stress, de l'anxiété, des craintes de remplacement et des interrogations sur l'avenir des métiers du logiciel.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7540076"/>
            <a:ext cx="16303523" cy="1587551"/>
            <a:chOff x="0" y="0"/>
            <a:chExt cx="21738031" cy="21167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37955" cy="2116709"/>
            </a:xfrm>
            <a:custGeom>
              <a:avLst/>
              <a:gdLst/>
              <a:ahLst/>
              <a:cxnLst/>
              <a:rect r="r" b="b" t="t" l="l"/>
              <a:pathLst>
                <a:path h="2116709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957959"/>
                  </a:lnTo>
                  <a:cubicBezTo>
                    <a:pt x="21737955" y="2045589"/>
                    <a:pt x="21666836" y="2116709"/>
                    <a:pt x="21579205" y="2116709"/>
                  </a:cubicBezTo>
                  <a:lnTo>
                    <a:pt x="158750" y="2116709"/>
                  </a:lnTo>
                  <a:cubicBezTo>
                    <a:pt x="71120" y="2116709"/>
                    <a:pt x="0" y="2045589"/>
                    <a:pt x="0" y="1957959"/>
                  </a:cubicBezTo>
                  <a:close/>
                </a:path>
              </a:pathLst>
            </a:custGeom>
            <a:solidFill>
              <a:srgbClr val="E8E6E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75750" y="7941621"/>
            <a:ext cx="354359" cy="283521"/>
            <a:chOff x="0" y="0"/>
            <a:chExt cx="472478" cy="37802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72" t="0" r="-680" b="13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913630" y="7808719"/>
            <a:ext cx="1509861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Question de recherche :</a:t>
            </a:r>
            <a:r>
              <a:rPr lang="en-US" sz="220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Comment les développeurs perçoivent-ils les outils modernes d'IA et les assistants de programmation ?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752416" y="9365580"/>
            <a:ext cx="1689106" cy="586207"/>
          </a:xfrm>
          <a:custGeom>
            <a:avLst/>
            <a:gdLst/>
            <a:ahLst/>
            <a:cxnLst/>
            <a:rect r="r" b="b" t="t" l="l"/>
            <a:pathLst>
              <a:path h="586207" w="1689106">
                <a:moveTo>
                  <a:pt x="0" y="0"/>
                </a:moveTo>
                <a:lnTo>
                  <a:pt x="1689107" y="0"/>
                </a:lnTo>
                <a:lnTo>
                  <a:pt x="1689107" y="586207"/>
                </a:lnTo>
                <a:lnTo>
                  <a:pt x="0" y="5862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7222943" y="9599524"/>
            <a:ext cx="853573" cy="285417"/>
            <a:chOff x="0" y="0"/>
            <a:chExt cx="1138098" cy="3805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8047" cy="380619"/>
            </a:xfrm>
            <a:custGeom>
              <a:avLst/>
              <a:gdLst/>
              <a:ahLst/>
              <a:cxnLst/>
              <a:rect r="r" b="b" t="t" l="l"/>
              <a:pathLst>
                <a:path h="380619" w="1138047">
                  <a:moveTo>
                    <a:pt x="0" y="380619"/>
                  </a:moveTo>
                  <a:cubicBezTo>
                    <a:pt x="505841" y="380619"/>
                    <a:pt x="1011682" y="380619"/>
                    <a:pt x="1138047" y="0"/>
                  </a:cubicBezTo>
                </a:path>
              </a:pathLst>
            </a:custGeom>
            <a:blipFill>
              <a:blip r:embed="rId9">
                <a:alphaModFix amt="0"/>
              </a:blip>
              <a:stretch>
                <a:fillRect l="0" t="-8271" r="-4" b="-8254"/>
              </a:stretch>
            </a:blipFill>
            <a:ln w="25200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>
                <a:alpha val="72157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509560"/>
            <a:ext cx="1630352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Objectifs du projet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754068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Transformer des discussions réelles en tendances interprétables et démontrables.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3683194"/>
            <a:ext cx="16303523" cy="38100"/>
            <a:chOff x="0" y="0"/>
            <a:chExt cx="21738031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8082" cy="50800"/>
            </a:xfrm>
            <a:custGeom>
              <a:avLst/>
              <a:gdLst/>
              <a:ahLst/>
              <a:cxnLst/>
              <a:rect r="r" b="b" t="t" l="l"/>
              <a:pathLst>
                <a:path h="50800" w="21738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C4C4C">
                <a:alpha val="24706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87476" y="4106313"/>
            <a:ext cx="16313048" cy="4656830"/>
            <a:chOff x="0" y="0"/>
            <a:chExt cx="21750731" cy="62091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50782" cy="6209157"/>
            </a:xfrm>
            <a:custGeom>
              <a:avLst/>
              <a:gdLst/>
              <a:ahLst/>
              <a:cxnLst/>
              <a:rect r="r" b="b" t="t" l="l"/>
              <a:pathLst>
                <a:path h="6209157" w="21750782">
                  <a:moveTo>
                    <a:pt x="0" y="159131"/>
                  </a:moveTo>
                  <a:cubicBezTo>
                    <a:pt x="0" y="71247"/>
                    <a:pt x="71247" y="0"/>
                    <a:pt x="159131" y="0"/>
                  </a:cubicBezTo>
                  <a:lnTo>
                    <a:pt x="21591651" y="0"/>
                  </a:lnTo>
                  <a:cubicBezTo>
                    <a:pt x="21679534" y="0"/>
                    <a:pt x="21750782" y="71247"/>
                    <a:pt x="21750782" y="159131"/>
                  </a:cubicBezTo>
                  <a:lnTo>
                    <a:pt x="21750782" y="6050026"/>
                  </a:lnTo>
                  <a:cubicBezTo>
                    <a:pt x="21750782" y="6137910"/>
                    <a:pt x="21679534" y="6209157"/>
                    <a:pt x="21591651" y="6209157"/>
                  </a:cubicBezTo>
                  <a:lnTo>
                    <a:pt x="159131" y="6209157"/>
                  </a:lnTo>
                  <a:cubicBezTo>
                    <a:pt x="71247" y="6209157"/>
                    <a:pt x="0" y="6137910"/>
                    <a:pt x="0" y="6050026"/>
                  </a:cubicBezTo>
                  <a:close/>
                </a:path>
              </a:pathLst>
            </a:custGeom>
            <a:solidFill>
              <a:srgbClr val="F2EDE5"/>
            </a:solidFill>
            <a:ln w="9526" cap="sq">
              <a:solidFill>
                <a:srgbClr val="CCC4B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01763" y="4120601"/>
            <a:ext cx="5428059" cy="2540946"/>
            <a:chOff x="0" y="0"/>
            <a:chExt cx="7237412" cy="33879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37476" cy="3387979"/>
            </a:xfrm>
            <a:custGeom>
              <a:avLst/>
              <a:gdLst/>
              <a:ahLst/>
              <a:cxnLst/>
              <a:rect r="r" b="b" t="t" l="l"/>
              <a:pathLst>
                <a:path h="3387979" w="7237476">
                  <a:moveTo>
                    <a:pt x="0" y="0"/>
                  </a:moveTo>
                  <a:lnTo>
                    <a:pt x="7237476" y="0"/>
                  </a:lnTo>
                  <a:lnTo>
                    <a:pt x="7237476" y="3387979"/>
                  </a:lnTo>
                  <a:lnTo>
                    <a:pt x="0" y="3387979"/>
                  </a:lnTo>
                  <a:close/>
                </a:path>
              </a:pathLst>
            </a:custGeom>
            <a:solidFill>
              <a:srgbClr val="F2EDE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85284" y="4385072"/>
            <a:ext cx="4861027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Collecter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5284" y="4931416"/>
            <a:ext cx="4861027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Réunir des discussions récentes et pertinentes issues de plusieurs plateformes.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429823" y="4120601"/>
            <a:ext cx="5428212" cy="2540946"/>
            <a:chOff x="0" y="0"/>
            <a:chExt cx="7237616" cy="33879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37603" cy="3387979"/>
            </a:xfrm>
            <a:custGeom>
              <a:avLst/>
              <a:gdLst/>
              <a:ahLst/>
              <a:cxnLst/>
              <a:rect r="r" b="b" t="t" l="l"/>
              <a:pathLst>
                <a:path h="3387979" w="7237603">
                  <a:moveTo>
                    <a:pt x="0" y="0"/>
                  </a:moveTo>
                  <a:lnTo>
                    <a:pt x="7237603" y="0"/>
                  </a:lnTo>
                  <a:lnTo>
                    <a:pt x="7237603" y="3387979"/>
                  </a:lnTo>
                  <a:lnTo>
                    <a:pt x="0" y="3387979"/>
                  </a:lnTo>
                  <a:close/>
                </a:path>
              </a:pathLst>
            </a:custGeom>
            <a:solidFill>
              <a:srgbClr val="F2EDE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29823" y="4120601"/>
            <a:ext cx="38100" cy="2540946"/>
            <a:chOff x="0" y="0"/>
            <a:chExt cx="50800" cy="33879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800" cy="3387979"/>
            </a:xfrm>
            <a:custGeom>
              <a:avLst/>
              <a:gdLst/>
              <a:ahLst/>
              <a:cxnLst/>
              <a:rect r="r" b="b" t="t" l="l"/>
              <a:pathLst>
                <a:path h="3387979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3362579"/>
                  </a:lnTo>
                  <a:cubicBezTo>
                    <a:pt x="50800" y="3376549"/>
                    <a:pt x="39370" y="3387979"/>
                    <a:pt x="25400" y="3387979"/>
                  </a:cubicBezTo>
                  <a:cubicBezTo>
                    <a:pt x="11430" y="3387979"/>
                    <a:pt x="0" y="3376549"/>
                    <a:pt x="0" y="3362579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713344" y="4385072"/>
            <a:ext cx="486116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Préparer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13344" y="4931416"/>
            <a:ext cx="48611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Nettoyer, normaliser, dédupliquer et documenter le corpus.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858034" y="4120601"/>
            <a:ext cx="5428212" cy="2540946"/>
            <a:chOff x="0" y="0"/>
            <a:chExt cx="7237616" cy="33879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37603" cy="3387979"/>
            </a:xfrm>
            <a:custGeom>
              <a:avLst/>
              <a:gdLst/>
              <a:ahLst/>
              <a:cxnLst/>
              <a:rect r="r" b="b" t="t" l="l"/>
              <a:pathLst>
                <a:path h="3387979" w="7237603">
                  <a:moveTo>
                    <a:pt x="0" y="0"/>
                  </a:moveTo>
                  <a:lnTo>
                    <a:pt x="7237603" y="0"/>
                  </a:lnTo>
                  <a:lnTo>
                    <a:pt x="7237603" y="3387979"/>
                  </a:lnTo>
                  <a:lnTo>
                    <a:pt x="0" y="3387979"/>
                  </a:lnTo>
                  <a:close/>
                </a:path>
              </a:pathLst>
            </a:custGeom>
            <a:solidFill>
              <a:srgbClr val="F2EDE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58034" y="4120601"/>
            <a:ext cx="38100" cy="2540946"/>
            <a:chOff x="0" y="0"/>
            <a:chExt cx="50800" cy="33879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800" cy="3387979"/>
            </a:xfrm>
            <a:custGeom>
              <a:avLst/>
              <a:gdLst/>
              <a:ahLst/>
              <a:cxnLst/>
              <a:rect r="r" b="b" t="t" l="l"/>
              <a:pathLst>
                <a:path h="3387979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3362579"/>
                  </a:lnTo>
                  <a:cubicBezTo>
                    <a:pt x="50800" y="3376549"/>
                    <a:pt x="39370" y="3387979"/>
                    <a:pt x="25400" y="3387979"/>
                  </a:cubicBezTo>
                  <a:cubicBezTo>
                    <a:pt x="11430" y="3387979"/>
                    <a:pt x="0" y="3376549"/>
                    <a:pt x="0" y="3362579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141546" y="4385072"/>
            <a:ext cx="486116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Explorer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41546" y="4931416"/>
            <a:ext cx="4861169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Comprendre la composition, les mots, les outils IA et l'évolution temporelle.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01763" y="6661547"/>
            <a:ext cx="8142237" cy="2087318"/>
            <a:chOff x="0" y="0"/>
            <a:chExt cx="10856316" cy="27830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56341" cy="2783078"/>
            </a:xfrm>
            <a:custGeom>
              <a:avLst/>
              <a:gdLst/>
              <a:ahLst/>
              <a:cxnLst/>
              <a:rect r="r" b="b" t="t" l="l"/>
              <a:pathLst>
                <a:path h="2783078" w="10856341">
                  <a:moveTo>
                    <a:pt x="0" y="0"/>
                  </a:moveTo>
                  <a:lnTo>
                    <a:pt x="10856341" y="0"/>
                  </a:lnTo>
                  <a:lnTo>
                    <a:pt x="10856341" y="2783078"/>
                  </a:lnTo>
                  <a:lnTo>
                    <a:pt x="0" y="2783078"/>
                  </a:lnTo>
                  <a:close/>
                </a:path>
              </a:pathLst>
            </a:custGeom>
            <a:solidFill>
              <a:srgbClr val="F2EDE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01763" y="6661547"/>
            <a:ext cx="8142237" cy="38100"/>
            <a:chOff x="0" y="0"/>
            <a:chExt cx="10856316" cy="50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856341" cy="50800"/>
            </a:xfrm>
            <a:custGeom>
              <a:avLst/>
              <a:gdLst/>
              <a:ahLst/>
              <a:cxnLst/>
              <a:rect r="r" b="b" t="t" l="l"/>
              <a:pathLst>
                <a:path h="50800" w="10856341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30941" y="0"/>
                  </a:lnTo>
                  <a:cubicBezTo>
                    <a:pt x="10844911" y="0"/>
                    <a:pt x="10856341" y="11430"/>
                    <a:pt x="10856341" y="25400"/>
                  </a:cubicBezTo>
                  <a:cubicBezTo>
                    <a:pt x="10856341" y="39370"/>
                    <a:pt x="10844911" y="50800"/>
                    <a:pt x="10830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85284" y="6926018"/>
            <a:ext cx="757520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Analyser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5284" y="7472363"/>
            <a:ext cx="757520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Comparer des méthodes de sentiment et découvrir les thèmes dominants.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144000" y="6661547"/>
            <a:ext cx="8142237" cy="2087318"/>
            <a:chOff x="0" y="0"/>
            <a:chExt cx="10856316" cy="27830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56341" cy="2783078"/>
            </a:xfrm>
            <a:custGeom>
              <a:avLst/>
              <a:gdLst/>
              <a:ahLst/>
              <a:cxnLst/>
              <a:rect r="r" b="b" t="t" l="l"/>
              <a:pathLst>
                <a:path h="2783078" w="10856341">
                  <a:moveTo>
                    <a:pt x="0" y="0"/>
                  </a:moveTo>
                  <a:lnTo>
                    <a:pt x="10856341" y="0"/>
                  </a:lnTo>
                  <a:lnTo>
                    <a:pt x="10856341" y="2783078"/>
                  </a:lnTo>
                  <a:lnTo>
                    <a:pt x="0" y="2783078"/>
                  </a:lnTo>
                  <a:close/>
                </a:path>
              </a:pathLst>
            </a:custGeom>
            <a:solidFill>
              <a:srgbClr val="F2EDE5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0" y="6661547"/>
            <a:ext cx="38100" cy="2087318"/>
            <a:chOff x="0" y="0"/>
            <a:chExt cx="50800" cy="27830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800" cy="2783078"/>
            </a:xfrm>
            <a:custGeom>
              <a:avLst/>
              <a:gdLst/>
              <a:ahLst/>
              <a:cxnLst/>
              <a:rect r="r" b="b" t="t" l="l"/>
              <a:pathLst>
                <a:path h="278307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757678"/>
                  </a:lnTo>
                  <a:cubicBezTo>
                    <a:pt x="50800" y="2771648"/>
                    <a:pt x="39370" y="2783078"/>
                    <a:pt x="25400" y="2783078"/>
                  </a:cubicBezTo>
                  <a:cubicBezTo>
                    <a:pt x="11430" y="2783078"/>
                    <a:pt x="0" y="2771648"/>
                    <a:pt x="0" y="2757678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0" y="6661547"/>
            <a:ext cx="8142237" cy="38100"/>
            <a:chOff x="0" y="0"/>
            <a:chExt cx="10856316" cy="50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856341" cy="50800"/>
            </a:xfrm>
            <a:custGeom>
              <a:avLst/>
              <a:gdLst/>
              <a:ahLst/>
              <a:cxnLst/>
              <a:rect r="r" b="b" t="t" l="l"/>
              <a:pathLst>
                <a:path h="50800" w="10856341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30941" y="0"/>
                  </a:lnTo>
                  <a:cubicBezTo>
                    <a:pt x="10844911" y="0"/>
                    <a:pt x="10856341" y="11430"/>
                    <a:pt x="10856341" y="25400"/>
                  </a:cubicBezTo>
                  <a:cubicBezTo>
                    <a:pt x="10856341" y="39370"/>
                    <a:pt x="10844911" y="50800"/>
                    <a:pt x="10830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427521" y="6926018"/>
            <a:ext cx="757520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Restituer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27521" y="7472363"/>
            <a:ext cx="757520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Présenter les résultats dans un dashboard interactif et un rapport professionnel.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1737924"/>
            <a:chOff x="0" y="0"/>
            <a:chExt cx="24384000" cy="1565056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5650590"/>
            </a:xfrm>
            <a:custGeom>
              <a:avLst/>
              <a:gdLst/>
              <a:ahLst/>
              <a:cxnLst/>
              <a:rect r="r" b="b" t="t" l="l"/>
              <a:pathLst>
                <a:path h="1565059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650590"/>
                  </a:lnTo>
                  <a:lnTo>
                    <a:pt x="0" y="15650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1737924"/>
            <a:chOff x="0" y="0"/>
            <a:chExt cx="24384000" cy="156505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5650590"/>
            </a:xfrm>
            <a:custGeom>
              <a:avLst/>
              <a:gdLst/>
              <a:ahLst/>
              <a:cxnLst/>
              <a:rect r="r" b="b" t="t" l="l"/>
              <a:pathLst>
                <a:path h="1565059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650590"/>
                  </a:lnTo>
                  <a:lnTo>
                    <a:pt x="0" y="15650590"/>
                  </a:lnTo>
                  <a:close/>
                </a:path>
              </a:pathLst>
            </a:custGeom>
            <a:solidFill>
              <a:srgbClr val="FDFBF7">
                <a:alpha val="72157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760657"/>
            <a:ext cx="1630352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Sources de données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328890"/>
            <a:ext cx="16303523" cy="41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Un corpus multi-plateforme de </a:t>
            </a:r>
            <a:r>
              <a:rPr lang="en-US" sz="1100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5 406 discussions</a:t>
            </a:r>
            <a:r>
              <a:rPr lang="en-US" sz="11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techniques et sociales.</a:t>
            </a: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Élargir la couverture des opinions, compenser les restrictions Reddit et comparer des contextes différents : discussions sociales, questions techniques et tickets de développement.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04784" y="1853508"/>
            <a:ext cx="14478433" cy="8107826"/>
            <a:chOff x="0" y="0"/>
            <a:chExt cx="21738031" cy="12173153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1738082" cy="12173204"/>
            </a:xfrm>
            <a:custGeom>
              <a:avLst/>
              <a:gdLst/>
              <a:ahLst/>
              <a:cxnLst/>
              <a:rect r="r" b="b" t="t" l="l"/>
              <a:pathLst>
                <a:path h="12173204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2173204"/>
                  </a:lnTo>
                  <a:lnTo>
                    <a:pt x="0" y="12173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" r="0" b="-14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>
                <a:alpha val="72157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186310"/>
            <a:ext cx="1630352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Difficulté Reddit et adaptation méthodologique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430809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Le blocage de l'API a été traité comme une contrainte externe, pas comme un arrêt du projet.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92238" y="4139651"/>
            <a:ext cx="5245446" cy="4941989"/>
          </a:xfrm>
          <a:custGeom>
            <a:avLst/>
            <a:gdLst/>
            <a:ahLst/>
            <a:cxnLst/>
            <a:rect r="r" b="b" t="t" l="l"/>
            <a:pathLst>
              <a:path h="4941989" w="5245446">
                <a:moveTo>
                  <a:pt x="0" y="0"/>
                </a:moveTo>
                <a:lnTo>
                  <a:pt x="5245446" y="0"/>
                </a:lnTo>
                <a:lnTo>
                  <a:pt x="5245446" y="4941989"/>
                </a:lnTo>
                <a:lnTo>
                  <a:pt x="0" y="49419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" t="0" r="-1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13850" y="4725743"/>
            <a:ext cx="460221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Plan initial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3850" y="5272087"/>
            <a:ext cx="460221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Utiliser l'API officielle Reddit pour collecter des publications récentes dans des communautés de développeurs.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6521206" y="3714302"/>
            <a:ext cx="5245446" cy="5367338"/>
          </a:xfrm>
          <a:custGeom>
            <a:avLst/>
            <a:gdLst/>
            <a:ahLst/>
            <a:cxnLst/>
            <a:rect r="r" b="b" t="t" l="l"/>
            <a:pathLst>
              <a:path h="5367338" w="5245446">
                <a:moveTo>
                  <a:pt x="0" y="0"/>
                </a:moveTo>
                <a:lnTo>
                  <a:pt x="5245446" y="0"/>
                </a:lnTo>
                <a:lnTo>
                  <a:pt x="5245446" y="5367338"/>
                </a:lnTo>
                <a:lnTo>
                  <a:pt x="0" y="53673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7" r="0" b="-1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42817" y="4300385"/>
            <a:ext cx="460221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Problèmes rencontrés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42817" y="4846739"/>
            <a:ext cx="460221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Erreurs HTTP 403, restrictions d'accès, limites PullPush et absence de réponse à la demande d'autorisation.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12050163" y="3289106"/>
            <a:ext cx="5245446" cy="5792543"/>
          </a:xfrm>
          <a:custGeom>
            <a:avLst/>
            <a:gdLst/>
            <a:ahLst/>
            <a:cxnLst/>
            <a:rect r="r" b="b" t="t" l="l"/>
            <a:pathLst>
              <a:path h="5792543" w="5245446">
                <a:moveTo>
                  <a:pt x="0" y="0"/>
                </a:moveTo>
                <a:lnTo>
                  <a:pt x="5245446" y="0"/>
                </a:lnTo>
                <a:lnTo>
                  <a:pt x="5245446" y="5792543"/>
                </a:lnTo>
                <a:lnTo>
                  <a:pt x="0" y="57925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3" r="0" b="-43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371784" y="3875189"/>
            <a:ext cx="460221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Solution adoptée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71784" y="4421534"/>
            <a:ext cx="4602213" cy="433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Arctic Shift + datasets publics documentés + GitHub Issues + Stack Overflow + Hacker News.</a:t>
            </a:r>
          </a:p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Conformité au cahier des charges :</a:t>
            </a: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les publications Reddit peuvent être remplacées par des datasets publics documentés lorsque l'accès réel n'est pas disponible.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969076"/>
            <a:chOff x="0" y="0"/>
            <a:chExt cx="24384000" cy="14625434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4625447"/>
            </a:xfrm>
            <a:custGeom>
              <a:avLst/>
              <a:gdLst/>
              <a:ahLst/>
              <a:cxnLst/>
              <a:rect r="r" b="b" t="t" l="l"/>
              <a:pathLst>
                <a:path h="1462544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25447"/>
                  </a:lnTo>
                  <a:lnTo>
                    <a:pt x="0" y="14625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1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969076"/>
            <a:chOff x="0" y="0"/>
            <a:chExt cx="24384000" cy="146254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4625447"/>
            </a:xfrm>
            <a:custGeom>
              <a:avLst/>
              <a:gdLst/>
              <a:ahLst/>
              <a:cxnLst/>
              <a:rect r="r" b="b" t="t" l="l"/>
              <a:pathLst>
                <a:path h="1462544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25447"/>
                  </a:lnTo>
                  <a:lnTo>
                    <a:pt x="0" y="14625447"/>
                  </a:lnTo>
                  <a:close/>
                </a:path>
              </a:pathLst>
            </a:custGeom>
            <a:solidFill>
              <a:srgbClr val="FDFBF7">
                <a:alpha val="7215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7476" y="774944"/>
            <a:ext cx="1037330" cy="224733"/>
            <a:chOff x="0" y="0"/>
            <a:chExt cx="1383106" cy="2996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3030" cy="299593"/>
            </a:xfrm>
            <a:custGeom>
              <a:avLst/>
              <a:gdLst/>
              <a:ahLst/>
              <a:cxnLst/>
              <a:rect r="r" b="b" t="t" l="l"/>
              <a:pathLst>
                <a:path h="299593" w="1383030">
                  <a:moveTo>
                    <a:pt x="0" y="66294"/>
                  </a:moveTo>
                  <a:cubicBezTo>
                    <a:pt x="0" y="29718"/>
                    <a:pt x="29718" y="0"/>
                    <a:pt x="66294" y="0"/>
                  </a:cubicBezTo>
                  <a:lnTo>
                    <a:pt x="1316736" y="0"/>
                  </a:lnTo>
                  <a:cubicBezTo>
                    <a:pt x="1353312" y="0"/>
                    <a:pt x="1383030" y="29718"/>
                    <a:pt x="1383030" y="66294"/>
                  </a:cubicBezTo>
                  <a:lnTo>
                    <a:pt x="1383030" y="233299"/>
                  </a:lnTo>
                  <a:cubicBezTo>
                    <a:pt x="1383030" y="269875"/>
                    <a:pt x="1353312" y="299593"/>
                    <a:pt x="1316736" y="299593"/>
                  </a:cubicBezTo>
                  <a:lnTo>
                    <a:pt x="66294" y="299593"/>
                  </a:lnTo>
                  <a:cubicBezTo>
                    <a:pt x="29718" y="299593"/>
                    <a:pt x="0" y="270002"/>
                    <a:pt x="0" y="233299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946" r="-5" b="-39963"/>
              </a:stretch>
            </a:blipFill>
            <a:ln w="9526" cap="sq">
              <a:solidFill>
                <a:srgbClr val="9C9283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77220" y="822122"/>
            <a:ext cx="1772250" cy="13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"/>
              </a:lnSpc>
            </a:pPr>
            <a:r>
              <a:rPr lang="en-US" sz="800">
                <a:solidFill>
                  <a:srgbClr val="9C9283"/>
                </a:solidFill>
                <a:latin typeface="Noto Serif"/>
                <a:ea typeface="Noto Serif"/>
                <a:cs typeface="Noto Serif"/>
                <a:sym typeface="Noto Serif"/>
              </a:rPr>
              <a:t>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1004145"/>
            <a:ext cx="1630352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Pipeline Data Science cible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1572368"/>
            <a:ext cx="17217923" cy="17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Architecture du prototype professionnel demandé.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1857527"/>
            <a:ext cx="16303523" cy="19050"/>
            <a:chOff x="0" y="0"/>
            <a:chExt cx="21738031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38082" cy="25400"/>
            </a:xfrm>
            <a:custGeom>
              <a:avLst/>
              <a:gdLst/>
              <a:ahLst/>
              <a:cxnLst/>
              <a:rect r="r" b="b" t="t" l="l"/>
              <a:pathLst>
                <a:path h="25400" w="21738082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21725382" y="0"/>
                  </a:lnTo>
                  <a:cubicBezTo>
                    <a:pt x="21732368" y="0"/>
                    <a:pt x="21738082" y="5715"/>
                    <a:pt x="21738082" y="12700"/>
                  </a:cubicBezTo>
                  <a:cubicBezTo>
                    <a:pt x="21738082" y="19685"/>
                    <a:pt x="21732368" y="25400"/>
                    <a:pt x="2172538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C4C4C">
                <a:alpha val="24706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71510" y="1991620"/>
            <a:ext cx="14544970" cy="7948022"/>
            <a:chOff x="0" y="0"/>
            <a:chExt cx="19393294" cy="10597363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9393281" cy="10597388"/>
            </a:xfrm>
            <a:custGeom>
              <a:avLst/>
              <a:gdLst/>
              <a:ahLst/>
              <a:cxnLst/>
              <a:rect r="r" b="b" t="t" l="l"/>
              <a:pathLst>
                <a:path h="10597388" w="19393281">
                  <a:moveTo>
                    <a:pt x="0" y="0"/>
                  </a:moveTo>
                  <a:lnTo>
                    <a:pt x="19393281" y="0"/>
                  </a:lnTo>
                  <a:lnTo>
                    <a:pt x="19393281" y="10597388"/>
                  </a:lnTo>
                  <a:lnTo>
                    <a:pt x="0" y="10597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0" b="-1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789464" y="5706208"/>
            <a:ext cx="3370212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Collecte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99823" y="5654497"/>
            <a:ext cx="3370212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Préparation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42465" y="5671061"/>
            <a:ext cx="3370212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Restitution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10019262"/>
            <a:ext cx="17217923" cy="17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Résultat attendu :</a:t>
            </a:r>
            <a:r>
              <a:rPr lang="en-US" sz="11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un pipeline reproductible, interprétable, testé et démontrable.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122141"/>
            <a:ext cx="1630352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Méthodes d'analyse prévues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366640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Une approche simple, explicable et compatible avec le délai du prototype.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4220166"/>
            <a:ext cx="5254971" cy="3930406"/>
            <a:chOff x="0" y="0"/>
            <a:chExt cx="7006628" cy="52405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590" cy="5240528"/>
            </a:xfrm>
            <a:custGeom>
              <a:avLst/>
              <a:gdLst/>
              <a:ahLst/>
              <a:cxnLst/>
              <a:rect r="r" b="b" t="t" l="l"/>
              <a:pathLst>
                <a:path h="5240528" w="7006590">
                  <a:moveTo>
                    <a:pt x="0" y="159131"/>
                  </a:moveTo>
                  <a:cubicBezTo>
                    <a:pt x="0" y="71247"/>
                    <a:pt x="71247" y="0"/>
                    <a:pt x="159131" y="0"/>
                  </a:cubicBezTo>
                  <a:lnTo>
                    <a:pt x="6847459" y="0"/>
                  </a:lnTo>
                  <a:cubicBezTo>
                    <a:pt x="6935343" y="0"/>
                    <a:pt x="7006590" y="71247"/>
                    <a:pt x="7006590" y="159131"/>
                  </a:cubicBezTo>
                  <a:lnTo>
                    <a:pt x="7006590" y="5081397"/>
                  </a:lnTo>
                  <a:cubicBezTo>
                    <a:pt x="7006590" y="5169281"/>
                    <a:pt x="6935343" y="5240528"/>
                    <a:pt x="6847459" y="5240528"/>
                  </a:cubicBezTo>
                  <a:lnTo>
                    <a:pt x="159131" y="5240528"/>
                  </a:lnTo>
                  <a:cubicBezTo>
                    <a:pt x="71247" y="5240528"/>
                    <a:pt x="0" y="5169281"/>
                    <a:pt x="0" y="5081397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9526" cap="sq">
              <a:solidFill>
                <a:srgbClr val="CCC4B8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284" y="4498924"/>
            <a:ext cx="465936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Analyse exploratoire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284" y="5045269"/>
            <a:ext cx="4659363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Répartition par plateforme, évolution temporelle, longueur des textes, fréquences lexicales, bigrams et trigrams, outils IA mentionnés, nuages de mots.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6443" y="4220166"/>
            <a:ext cx="5254971" cy="3930406"/>
            <a:chOff x="0" y="0"/>
            <a:chExt cx="7006628" cy="52405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06590" cy="5240528"/>
            </a:xfrm>
            <a:custGeom>
              <a:avLst/>
              <a:gdLst/>
              <a:ahLst/>
              <a:cxnLst/>
              <a:rect r="r" b="b" t="t" l="l"/>
              <a:pathLst>
                <a:path h="5240528" w="7006590">
                  <a:moveTo>
                    <a:pt x="0" y="159131"/>
                  </a:moveTo>
                  <a:cubicBezTo>
                    <a:pt x="0" y="71247"/>
                    <a:pt x="71247" y="0"/>
                    <a:pt x="159131" y="0"/>
                  </a:cubicBezTo>
                  <a:lnTo>
                    <a:pt x="6847459" y="0"/>
                  </a:lnTo>
                  <a:cubicBezTo>
                    <a:pt x="6935343" y="0"/>
                    <a:pt x="7006590" y="71247"/>
                    <a:pt x="7006590" y="159131"/>
                  </a:cubicBezTo>
                  <a:lnTo>
                    <a:pt x="7006590" y="5081397"/>
                  </a:lnTo>
                  <a:cubicBezTo>
                    <a:pt x="7006590" y="5169281"/>
                    <a:pt x="6935343" y="5240528"/>
                    <a:pt x="6847459" y="5240528"/>
                  </a:cubicBezTo>
                  <a:lnTo>
                    <a:pt x="159131" y="5240528"/>
                  </a:lnTo>
                  <a:cubicBezTo>
                    <a:pt x="71247" y="5240528"/>
                    <a:pt x="0" y="5169281"/>
                    <a:pt x="0" y="5081397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9526" cap="sq">
              <a:solidFill>
                <a:srgbClr val="CCC4B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814242" y="4498924"/>
            <a:ext cx="465936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Analyse de sentiment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14242" y="5045269"/>
            <a:ext cx="4659363" cy="280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VADER (baseline lexicale), transformer préentraîné, échantillon annoté manuellement, comparaison des prédictions, matrice de confusion, analyse des erreurs.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45401" y="4220166"/>
            <a:ext cx="5254971" cy="3930406"/>
            <a:chOff x="0" y="0"/>
            <a:chExt cx="7006628" cy="52405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06590" cy="5240528"/>
            </a:xfrm>
            <a:custGeom>
              <a:avLst/>
              <a:gdLst/>
              <a:ahLst/>
              <a:cxnLst/>
              <a:rect r="r" b="b" t="t" l="l"/>
              <a:pathLst>
                <a:path h="5240528" w="7006590">
                  <a:moveTo>
                    <a:pt x="0" y="159131"/>
                  </a:moveTo>
                  <a:cubicBezTo>
                    <a:pt x="0" y="71247"/>
                    <a:pt x="71247" y="0"/>
                    <a:pt x="159131" y="0"/>
                  </a:cubicBezTo>
                  <a:lnTo>
                    <a:pt x="6847459" y="0"/>
                  </a:lnTo>
                  <a:cubicBezTo>
                    <a:pt x="6935343" y="0"/>
                    <a:pt x="7006590" y="71247"/>
                    <a:pt x="7006590" y="159131"/>
                  </a:cubicBezTo>
                  <a:lnTo>
                    <a:pt x="7006590" y="5081397"/>
                  </a:lnTo>
                  <a:cubicBezTo>
                    <a:pt x="7006590" y="5169281"/>
                    <a:pt x="6935343" y="5240528"/>
                    <a:pt x="6847459" y="5240528"/>
                  </a:cubicBezTo>
                  <a:lnTo>
                    <a:pt x="159131" y="5240528"/>
                  </a:lnTo>
                  <a:cubicBezTo>
                    <a:pt x="71247" y="5240528"/>
                    <a:pt x="0" y="5169281"/>
                    <a:pt x="0" y="5081397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9526" cap="sq">
              <a:solidFill>
                <a:srgbClr val="CCC4B8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343209" y="4498924"/>
            <a:ext cx="465936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Thèmes et clusters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43209" y="5045269"/>
            <a:ext cx="4659363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TF-IDF, NMF pour les topics, K-Means pour le clustering, termes dominants, documents représentatifs, noms de thèmes validés manuellement.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>
                <a:alpha val="72157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870947"/>
            <a:ext cx="16303523" cy="84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État d'avancement et prochaines étapes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010966"/>
            <a:ext cx="17217923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Le projet dispose déjà de la base de données et de la structure nécessaires pour terminer le prototype.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3021359"/>
            <a:ext cx="6477600" cy="1769421"/>
            <a:chOff x="0" y="0"/>
            <a:chExt cx="8636800" cy="23592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36762" cy="2359152"/>
            </a:xfrm>
            <a:custGeom>
              <a:avLst/>
              <a:gdLst/>
              <a:ahLst/>
              <a:cxnLst/>
              <a:rect r="r" b="b" t="t" l="l"/>
              <a:pathLst>
                <a:path h="2359152" w="863676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490458" y="0"/>
                  </a:lnTo>
                  <a:cubicBezTo>
                    <a:pt x="8571357" y="0"/>
                    <a:pt x="8636762" y="65532"/>
                    <a:pt x="8636762" y="146304"/>
                  </a:cubicBezTo>
                  <a:lnTo>
                    <a:pt x="8636762" y="2212848"/>
                  </a:lnTo>
                  <a:cubicBezTo>
                    <a:pt x="8636762" y="2293747"/>
                    <a:pt x="8571230" y="2359152"/>
                    <a:pt x="8490458" y="2359152"/>
                  </a:cubicBezTo>
                  <a:lnTo>
                    <a:pt x="146304" y="2359152"/>
                  </a:lnTo>
                  <a:cubicBezTo>
                    <a:pt x="65532" y="2359279"/>
                    <a:pt x="0" y="2293747"/>
                    <a:pt x="0" y="2212848"/>
                  </a:cubicBezTo>
                  <a:close/>
                </a:path>
              </a:pathLst>
            </a:custGeom>
            <a:solidFill>
              <a:srgbClr val="E8E6E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53576" y="3414560"/>
            <a:ext cx="326679" cy="261337"/>
            <a:chOff x="0" y="0"/>
            <a:chExt cx="435572" cy="34845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35610" cy="348488"/>
            </a:xfrm>
            <a:custGeom>
              <a:avLst/>
              <a:gdLst/>
              <a:ahLst/>
              <a:cxnLst/>
              <a:rect r="r" b="b" t="t" l="l"/>
              <a:pathLst>
                <a:path h="348488" w="435610">
                  <a:moveTo>
                    <a:pt x="0" y="0"/>
                  </a:moveTo>
                  <a:lnTo>
                    <a:pt x="435610" y="0"/>
                  </a:lnTo>
                  <a:lnTo>
                    <a:pt x="435610" y="348488"/>
                  </a:lnTo>
                  <a:lnTo>
                    <a:pt x="0" y="34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8" b="7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841602" y="3236862"/>
            <a:ext cx="5366890" cy="127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Priorité immédiate :</a:t>
            </a:r>
            <a:r>
              <a:rPr lang="en-US" sz="200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 documenter ce qui est déjà terminé, puis exécuter l'EDA et les analyses NLP.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238" y="5061795"/>
            <a:ext cx="28575" cy="1638748"/>
            <a:chOff x="0" y="0"/>
            <a:chExt cx="38100" cy="21849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" cy="2185035"/>
            </a:xfrm>
            <a:custGeom>
              <a:avLst/>
              <a:gdLst/>
              <a:ahLst/>
              <a:cxnLst/>
              <a:rect r="r" b="b" t="t" l="l"/>
              <a:pathLst>
                <a:path h="2185035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165985"/>
                  </a:lnTo>
                  <a:cubicBezTo>
                    <a:pt x="38100" y="2176526"/>
                    <a:pt x="29591" y="2185035"/>
                    <a:pt x="19050" y="2185035"/>
                  </a:cubicBezTo>
                  <a:cubicBezTo>
                    <a:pt x="8509" y="2185035"/>
                    <a:pt x="0" y="2176526"/>
                    <a:pt x="0" y="2165985"/>
                  </a:cubicBezTo>
                  <a:close/>
                </a:path>
              </a:pathLst>
            </a:custGeom>
            <a:solidFill>
              <a:srgbClr val="9C928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84249" y="5211966"/>
            <a:ext cx="6085580" cy="127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Le projet dispose déjà de la base de données et de la structure nécessaires pour terminer le prototype.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696673" y="3021359"/>
            <a:ext cx="28575" cy="6095105"/>
            <a:chOff x="0" y="0"/>
            <a:chExt cx="38100" cy="81268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100" cy="8126857"/>
            </a:xfrm>
            <a:custGeom>
              <a:avLst/>
              <a:gdLst/>
              <a:ahLst/>
              <a:cxnLst/>
              <a:rect r="r" b="b" t="t" l="l"/>
              <a:pathLst>
                <a:path h="8126857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8107807"/>
                  </a:lnTo>
                  <a:cubicBezTo>
                    <a:pt x="38100" y="8118348"/>
                    <a:pt x="29591" y="8126857"/>
                    <a:pt x="19050" y="8126857"/>
                  </a:cubicBezTo>
                  <a:cubicBezTo>
                    <a:pt x="8509" y="8126857"/>
                    <a:pt x="0" y="8118348"/>
                    <a:pt x="0" y="8107807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505" y="3301013"/>
            <a:ext cx="784022" cy="28575"/>
            <a:chOff x="0" y="0"/>
            <a:chExt cx="1045362" cy="38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5337" cy="38100"/>
            </a:xfrm>
            <a:custGeom>
              <a:avLst/>
              <a:gdLst/>
              <a:ahLst/>
              <a:cxnLst/>
              <a:rect r="r" b="b" t="t" l="l"/>
              <a:pathLst>
                <a:path h="38100" w="104533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26287" y="0"/>
                  </a:lnTo>
                  <a:cubicBezTo>
                    <a:pt x="1036828" y="0"/>
                    <a:pt x="1045337" y="8509"/>
                    <a:pt x="1045337" y="19050"/>
                  </a:cubicBezTo>
                  <a:cubicBezTo>
                    <a:pt x="1045337" y="29591"/>
                    <a:pt x="1036828" y="38100"/>
                    <a:pt x="102628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412189" y="3016596"/>
            <a:ext cx="597541" cy="597541"/>
            <a:chOff x="0" y="0"/>
            <a:chExt cx="796722" cy="79672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96671" cy="796671"/>
            </a:xfrm>
            <a:custGeom>
              <a:avLst/>
              <a:gdLst/>
              <a:ahLst/>
              <a:cxnLst/>
              <a:rect r="r" b="b" t="t" l="l"/>
              <a:pathLst>
                <a:path h="796671" w="796671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647954" y="0"/>
                  </a:lnTo>
                  <a:cubicBezTo>
                    <a:pt x="730123" y="0"/>
                    <a:pt x="796671" y="66548"/>
                    <a:pt x="796671" y="148717"/>
                  </a:cubicBezTo>
                  <a:lnTo>
                    <a:pt x="796671" y="647954"/>
                  </a:lnTo>
                  <a:cubicBezTo>
                    <a:pt x="796671" y="730123"/>
                    <a:pt x="730123" y="796671"/>
                    <a:pt x="647954" y="796671"/>
                  </a:cubicBezTo>
                  <a:lnTo>
                    <a:pt x="148717" y="796671"/>
                  </a:lnTo>
                  <a:cubicBezTo>
                    <a:pt x="66548" y="796671"/>
                    <a:pt x="0" y="730123"/>
                    <a:pt x="0" y="647954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9526" cap="sq">
              <a:solidFill>
                <a:srgbClr val="CCC4B8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514878" y="3070250"/>
            <a:ext cx="392011" cy="490090"/>
            <a:chOff x="0" y="0"/>
            <a:chExt cx="522681" cy="65345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2685" cy="653456"/>
            </a:xfrm>
            <a:custGeom>
              <a:avLst/>
              <a:gdLst/>
              <a:ahLst/>
              <a:cxnLst/>
              <a:rect r="r" b="b" t="t" l="l"/>
              <a:pathLst>
                <a:path h="653456" w="522685">
                  <a:moveTo>
                    <a:pt x="0" y="0"/>
                  </a:moveTo>
                  <a:lnTo>
                    <a:pt x="522685" y="0"/>
                  </a:lnTo>
                  <a:lnTo>
                    <a:pt x="522685" y="653456"/>
                  </a:lnTo>
                  <a:lnTo>
                    <a:pt x="0" y="6534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03" t="0" r="-11040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22681" cy="653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1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116938" y="3092053"/>
            <a:ext cx="3287163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19"/>
              </a:lnSpc>
            </a:pPr>
            <a:r>
              <a:rPr lang="en-US" sz="2499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Terminé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116938" y="3693614"/>
            <a:ext cx="3287163" cy="24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2"/>
              </a:lnSpc>
            </a:pPr>
            <a:r>
              <a:rPr lang="en-US" sz="20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Cadrage, sources, scripts de collecte, corpus brut (5 406 lignes), audit de qualité, structure du rapport, dataset prêt (2 666 lignes).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976393" y="4828432"/>
            <a:ext cx="784022" cy="28575"/>
            <a:chOff x="0" y="0"/>
            <a:chExt cx="1045362" cy="38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5337" cy="38100"/>
            </a:xfrm>
            <a:custGeom>
              <a:avLst/>
              <a:gdLst/>
              <a:ahLst/>
              <a:cxnLst/>
              <a:rect r="r" b="b" t="t" l="l"/>
              <a:pathLst>
                <a:path h="38100" w="104533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26287" y="0"/>
                  </a:lnTo>
                  <a:cubicBezTo>
                    <a:pt x="1036828" y="0"/>
                    <a:pt x="1045337" y="8509"/>
                    <a:pt x="1045337" y="19050"/>
                  </a:cubicBezTo>
                  <a:cubicBezTo>
                    <a:pt x="1045337" y="29591"/>
                    <a:pt x="1036828" y="38100"/>
                    <a:pt x="102628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412189" y="4544016"/>
            <a:ext cx="597541" cy="597541"/>
            <a:chOff x="0" y="0"/>
            <a:chExt cx="796722" cy="7967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96671" cy="796671"/>
            </a:xfrm>
            <a:custGeom>
              <a:avLst/>
              <a:gdLst/>
              <a:ahLst/>
              <a:cxnLst/>
              <a:rect r="r" b="b" t="t" l="l"/>
              <a:pathLst>
                <a:path h="796671" w="796671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647954" y="0"/>
                  </a:lnTo>
                  <a:cubicBezTo>
                    <a:pt x="730123" y="0"/>
                    <a:pt x="796671" y="66548"/>
                    <a:pt x="796671" y="148717"/>
                  </a:cubicBezTo>
                  <a:lnTo>
                    <a:pt x="796671" y="647954"/>
                  </a:lnTo>
                  <a:cubicBezTo>
                    <a:pt x="796671" y="730123"/>
                    <a:pt x="730123" y="796671"/>
                    <a:pt x="647954" y="796671"/>
                  </a:cubicBezTo>
                  <a:lnTo>
                    <a:pt x="148717" y="796671"/>
                  </a:lnTo>
                  <a:cubicBezTo>
                    <a:pt x="66548" y="796671"/>
                    <a:pt x="0" y="730123"/>
                    <a:pt x="0" y="647954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9526" cap="sq">
              <a:solidFill>
                <a:srgbClr val="CCC4B8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514878" y="4597670"/>
            <a:ext cx="392011" cy="490090"/>
            <a:chOff x="0" y="0"/>
            <a:chExt cx="522681" cy="65345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2685" cy="653456"/>
            </a:xfrm>
            <a:custGeom>
              <a:avLst/>
              <a:gdLst/>
              <a:ahLst/>
              <a:cxnLst/>
              <a:rect r="r" b="b" t="t" l="l"/>
              <a:pathLst>
                <a:path h="653456" w="522685">
                  <a:moveTo>
                    <a:pt x="0" y="0"/>
                  </a:moveTo>
                  <a:lnTo>
                    <a:pt x="522685" y="0"/>
                  </a:lnTo>
                  <a:lnTo>
                    <a:pt x="522685" y="653456"/>
                  </a:lnTo>
                  <a:lnTo>
                    <a:pt x="0" y="6534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03" t="0" r="-11040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522681" cy="653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2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4017828" y="4619473"/>
            <a:ext cx="3287316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En cours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017828" y="5221043"/>
            <a:ext cx="3287316" cy="207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Présentation du pipeline, comparaison du sentiment, documentation technique, topic modeling et clustering, état de l'art.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661505" y="6931971"/>
            <a:ext cx="784022" cy="28575"/>
            <a:chOff x="0" y="0"/>
            <a:chExt cx="1045362" cy="38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5337" cy="38100"/>
            </a:xfrm>
            <a:custGeom>
              <a:avLst/>
              <a:gdLst/>
              <a:ahLst/>
              <a:cxnLst/>
              <a:rect r="r" b="b" t="t" l="l"/>
              <a:pathLst>
                <a:path h="38100" w="104533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26287" y="0"/>
                  </a:lnTo>
                  <a:cubicBezTo>
                    <a:pt x="1036828" y="0"/>
                    <a:pt x="1045337" y="8509"/>
                    <a:pt x="1045337" y="19050"/>
                  </a:cubicBezTo>
                  <a:cubicBezTo>
                    <a:pt x="1045337" y="29591"/>
                    <a:pt x="1036828" y="38100"/>
                    <a:pt x="102628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412189" y="6647555"/>
            <a:ext cx="597541" cy="597541"/>
            <a:chOff x="0" y="0"/>
            <a:chExt cx="796722" cy="79672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96671" cy="796671"/>
            </a:xfrm>
            <a:custGeom>
              <a:avLst/>
              <a:gdLst/>
              <a:ahLst/>
              <a:cxnLst/>
              <a:rect r="r" b="b" t="t" l="l"/>
              <a:pathLst>
                <a:path h="796671" w="796671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647954" y="0"/>
                  </a:lnTo>
                  <a:cubicBezTo>
                    <a:pt x="730123" y="0"/>
                    <a:pt x="796671" y="66548"/>
                    <a:pt x="796671" y="148717"/>
                  </a:cubicBezTo>
                  <a:lnTo>
                    <a:pt x="796671" y="647954"/>
                  </a:lnTo>
                  <a:cubicBezTo>
                    <a:pt x="796671" y="730123"/>
                    <a:pt x="730123" y="796671"/>
                    <a:pt x="647954" y="796671"/>
                  </a:cubicBezTo>
                  <a:lnTo>
                    <a:pt x="148717" y="796671"/>
                  </a:lnTo>
                  <a:cubicBezTo>
                    <a:pt x="66548" y="796671"/>
                    <a:pt x="0" y="730123"/>
                    <a:pt x="0" y="647954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9526" cap="sq">
              <a:solidFill>
                <a:srgbClr val="CCC4B8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514878" y="6701209"/>
            <a:ext cx="392011" cy="490090"/>
            <a:chOff x="0" y="0"/>
            <a:chExt cx="522681" cy="65345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22685" cy="653456"/>
            </a:xfrm>
            <a:custGeom>
              <a:avLst/>
              <a:gdLst/>
              <a:ahLst/>
              <a:cxnLst/>
              <a:rect r="r" b="b" t="t" l="l"/>
              <a:pathLst>
                <a:path h="653456" w="522685">
                  <a:moveTo>
                    <a:pt x="0" y="0"/>
                  </a:moveTo>
                  <a:lnTo>
                    <a:pt x="522685" y="0"/>
                  </a:lnTo>
                  <a:lnTo>
                    <a:pt x="522685" y="653456"/>
                  </a:lnTo>
                  <a:lnTo>
                    <a:pt x="0" y="6534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03" t="0" r="-11040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522681" cy="653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3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8116938" y="6723012"/>
            <a:ext cx="3287163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19"/>
              </a:lnSpc>
            </a:pPr>
            <a:r>
              <a:rPr lang="en-US" sz="2499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À réaliser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116938" y="7324573"/>
            <a:ext cx="3287163" cy="127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2"/>
              </a:lnSpc>
            </a:pPr>
            <a:r>
              <a:rPr lang="en-US" sz="20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EDA, dashboard Streamlit, tests et démonstration, finalisation du rapport.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38993"/>
            <a:ext cx="1630352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531116"/>
            <a:ext cx="16303523" cy="248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9"/>
              </a:lnSpc>
            </a:pPr>
            <a:r>
              <a:rPr lang="en-US" sz="770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Le projet n'est pas bloqué par Reddit.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5510813"/>
            <a:ext cx="16303523" cy="38100"/>
            <a:chOff x="0" y="0"/>
            <a:chExt cx="21738031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8082" cy="50800"/>
            </a:xfrm>
            <a:custGeom>
              <a:avLst/>
              <a:gdLst/>
              <a:ahLst/>
              <a:cxnLst/>
              <a:rect r="r" b="b" t="t" l="l"/>
              <a:pathLst>
                <a:path h="50800" w="21738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C4C4C">
                <a:alpha val="24706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5852960"/>
            <a:ext cx="16303523" cy="176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La collecte multi-source, l'audit de qualité et le dataset d'analyse sont déjà disponibles. La prochaine phase consiste à produire les analyses, les tests et le dashboard, puis à consolider les résultats dans le rapport final.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Documentation technique du pipeline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7937449"/>
            <a:ext cx="38100" cy="1091508"/>
            <a:chOff x="0" y="0"/>
            <a:chExt cx="50800" cy="14553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" cy="1455293"/>
            </a:xfrm>
            <a:custGeom>
              <a:avLst/>
              <a:gdLst/>
              <a:ahLst/>
              <a:cxnLst/>
              <a:rect r="r" b="b" t="t" l="l"/>
              <a:pathLst>
                <a:path h="1455293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429893"/>
                  </a:lnTo>
                  <a:cubicBezTo>
                    <a:pt x="50800" y="1443863"/>
                    <a:pt x="39370" y="1455293"/>
                    <a:pt x="25400" y="1455293"/>
                  </a:cubicBezTo>
                  <a:cubicBezTo>
                    <a:pt x="11430" y="1455293"/>
                    <a:pt x="0" y="1443863"/>
                    <a:pt x="0" y="1429893"/>
                  </a:cubicBezTo>
                  <a:close/>
                </a:path>
              </a:pathLst>
            </a:custGeom>
            <a:solidFill>
              <a:srgbClr val="9C928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17444" y="8170669"/>
            <a:ext cx="1679272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Merci</a:t>
            </a:r>
            <a:r>
              <a:rPr lang="en-US" sz="220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— Charifa FAX · Stage Data Science &amp; AI Sentiment Analysis · YaneCode Digital · Stage d'été 2026 · 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DAHQN3PYJ3Y</dc:identifier>
  <dcterms:modified xsi:type="dcterms:W3CDTF">2011-08-01T06:04:30Z</dcterms:modified>
  <cp:revision>1</cp:revision>
  <dc:title>Pipeline-Data-Science (1).pptx</dc:title>
</cp:coreProperties>
</file>