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YaneCode Digital · Stage d’été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YC_DS20263841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777240"/>
            <a:ext cx="2743200" cy="2743200"/>
          </a:xfrm>
          <a:prstGeom prst="ellipse">
            <a:avLst/>
          </a:prstGeom>
          <a:solidFill>
            <a:srgbClr val="173D5C">
              <a:alpha val="90000"/>
            </a:srgbClr>
          </a:solidFill>
          <a:ln w="12700">
            <a:solidFill>
              <a:srgbClr val="173D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1417320"/>
            <a:ext cx="1463040" cy="1463040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77724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813816"/>
            <a:ext cx="18196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DATA SCIENCE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 des perceptions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développeurs face à l’IA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31546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 multi-source · NLP · Sentiment · Topics · Dashboard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Charifa FAX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51572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d’été 2026 · YC_DS20263841 · YaneCode Digital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56875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Présentation du pipeline et de l’état d’avancement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 et problématique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analyser les discussions des développeurs sur l’intelligence artificielle 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Adoption rapide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075688"/>
            <a:ext cx="299008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ChatGPT, GitHub Copilot, Cursor, Claude et Gemini modifient déjà la façon de coder, chercher, apprendre et résoudre des problèmes.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41605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Perceptions contrastées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075688"/>
            <a:ext cx="299008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développeurs évoquent des gains de productivité, mais aussi des hallucinations, des bugs, des problèmes de confiance, de confidentialité et de dépendance.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17320"/>
            <a:ext cx="73152" cy="4160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Enjeu humain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2075688"/>
            <a:ext cx="299008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discussions révèlent également du stress, de l’anxiété, des craintes de remplacement et des interrogations sur l’avenir des métiers du logiciel.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508760" y="5806440"/>
            <a:ext cx="9189720" cy="438912"/>
          </a:xfrm>
          <a:prstGeom prst="roundRect">
            <a:avLst>
              <a:gd name="adj" fmla="val 12500"/>
            </a:avLst>
          </a:prstGeom>
          <a:solidFill>
            <a:srgbClr val="E7F7F7"/>
          </a:solidFill>
          <a:ln w="12700">
            <a:solidFill>
              <a:srgbClr val="E7F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5907024"/>
            <a:ext cx="8732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recherche : Comment les développeurs perçoivent-ils les outils modernes d’IA et les assistants de programmation 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du projet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des discussions réelles en tendances interprétables et démontrables.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0817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72768" y="1307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880360" y="1307592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Réunir des discussions récentes et pertinentes issues de plusieurs plateformes.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88136" y="1856232"/>
            <a:ext cx="0" cy="411480"/>
          </a:xfrm>
          <a:prstGeom prst="line">
            <a:avLst/>
          </a:prstGeom>
          <a:noFill/>
          <a:ln w="25400">
            <a:solidFill>
              <a:srgbClr val="E7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67712"/>
            <a:ext cx="530352" cy="5303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000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72768" y="2249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Préparer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80360" y="2249424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Nettoyer, normaliser, dédupliquer et documenter le corpus.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088136" y="2798064"/>
            <a:ext cx="0" cy="411480"/>
          </a:xfrm>
          <a:prstGeom prst="line">
            <a:avLst/>
          </a:prstGeom>
          <a:noFill/>
          <a:ln w="25400">
            <a:solidFill>
              <a:srgbClr val="E7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209544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9184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72768" y="31912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80360" y="3191256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 la composition, les mots, les outils IA et l’évolution temporelle.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1088136" y="3739896"/>
            <a:ext cx="0" cy="411480"/>
          </a:xfrm>
          <a:prstGeom prst="line">
            <a:avLst/>
          </a:prstGeom>
          <a:noFill/>
          <a:ln w="25400">
            <a:solidFill>
              <a:srgbClr val="E7EA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151376"/>
            <a:ext cx="530352" cy="5303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3367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72768" y="4133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880360" y="4133088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des méthodes de sentiment et découvrir les thèmes dominants.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1088136" y="4681728"/>
            <a:ext cx="0" cy="411480"/>
          </a:xfrm>
          <a:prstGeom prst="line">
            <a:avLst/>
          </a:prstGeom>
          <a:noFill/>
          <a:ln w="25400">
            <a:solidFill>
              <a:srgbClr val="E7EA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093208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175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72768" y="5074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Restituer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880360" y="507492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Présenter les résultats dans un dashboard interactif et un rapport professionnel.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de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corpus multi-plateforme de 5 406 discussions techniques et sociales.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6400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500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984248"/>
            <a:ext cx="5943600" cy="0"/>
          </a:xfrm>
          <a:prstGeom prst="line">
            <a:avLst/>
          </a:prstGeom>
          <a:noFill/>
          <a:ln w="1270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488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Reddit · Arctic Shift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6791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Hugging Face · Reddit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2679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2095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Hugging Face · Multi-source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32095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73989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Hacker News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3739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702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Issues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4270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1 616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Overflow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1 108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43800" y="1371600"/>
            <a:ext cx="3886200" cy="1920240"/>
          </a:xfrm>
          <a:prstGeom prst="roundRect">
            <a:avLst>
              <a:gd name="adj" fmla="val 28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75564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5 406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7543800" y="25054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enregistrements bruts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43800" y="361188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3611880"/>
            <a:ext cx="73152" cy="2194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9832" y="38313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plusieurs plateformes 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99832" y="4270248"/>
            <a:ext cx="34472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Élargir la couverture des opinions, compenser les restrictions Reddit et comparer des contextes différents : discussions sociales, questions techniques et tickets de développement.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Difficulté Reddit et adaptation méthodologique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blocage de l’API a été traité comme une contrainte externe, pas comme un arrêt du projet.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73152" cy="33832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73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initial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212848"/>
            <a:ext cx="253288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l’API officielle Reddit pour collecter des publications récentes dans des communautés de développeurs.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2788920"/>
            <a:ext cx="457200" cy="685800"/>
          </a:xfrm>
          <a:prstGeom prst="chevron">
            <a:avLst/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554480"/>
            <a:ext cx="73152" cy="3383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773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Problèmes rencontrés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16552" y="2212848"/>
            <a:ext cx="253288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Erreurs HTTP 403, restrictions d’accès, limites PullPush et absence de réponse à la demande d’autorisation.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2788920"/>
            <a:ext cx="457200" cy="685800"/>
          </a:xfrm>
          <a:prstGeom prst="chevron">
            <a:avLst/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554480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1554480"/>
            <a:ext cx="73152" cy="3383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91272" y="1773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adoptée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91272" y="2212848"/>
            <a:ext cx="253288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Arctic Shift + datasets publics documentés + GitHub Issues + Stack Overflow + Hacker News.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25880" y="5303520"/>
            <a:ext cx="9555480" cy="658368"/>
          </a:xfrm>
          <a:prstGeom prst="roundRect">
            <a:avLst>
              <a:gd name="adj" fmla="val 8333"/>
            </a:avLst>
          </a:prstGeom>
          <a:solidFill>
            <a:srgbClr val="E7F7F7"/>
          </a:solidFill>
          <a:ln w="12700">
            <a:solidFill>
              <a:srgbClr val="E7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5468112"/>
            <a:ext cx="9006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Conformité au cahier des charges : les publications Reddit peuvent être remplacées par des datasets publics documentés lorsque l’accès réel n’est pas disponible.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Data Science cible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du prototype professionnel demandé.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682496" cy="2148840"/>
          </a:xfrm>
          <a:prstGeom prst="roundRect">
            <a:avLst>
              <a:gd name="adj" fmla="val 2717"/>
            </a:avLst>
          </a:prstGeom>
          <a:solidFill>
            <a:srgbClr val="E7F7F7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286000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3865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9992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Reddit / HF / GitHub / SO / HN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2880360"/>
            <a:ext cx="164592" cy="502920"/>
          </a:xfrm>
          <a:prstGeom prst="chevron">
            <a:avLst/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86584" y="2057400"/>
            <a:ext cx="1682496" cy="2148840"/>
          </a:xfrm>
          <a:prstGeom prst="roundRect">
            <a:avLst>
              <a:gd name="adj" fmla="val 2717"/>
            </a:avLst>
          </a:prstGeom>
          <a:solidFill>
            <a:srgbClr val="EAF0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2286000"/>
            <a:ext cx="530352" cy="5303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23865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78024" y="29992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23744" y="34015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Python et APIs publiques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2880360"/>
            <a:ext cx="164592" cy="502920"/>
          </a:xfrm>
          <a:prstGeom prst="chevron">
            <a:avLst/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0248" y="2057400"/>
            <a:ext cx="1682496" cy="2148840"/>
          </a:xfrm>
          <a:prstGeom prst="roundRect">
            <a:avLst>
              <a:gd name="adj" fmla="val 2717"/>
            </a:avLst>
          </a:prstGeom>
          <a:solidFill>
            <a:srgbClr val="E7F7F7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286000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865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61688" y="29992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Préparation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07408" y="34015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Schéma, qualité, nettoyage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0176" y="2880360"/>
            <a:ext cx="164592" cy="502920"/>
          </a:xfrm>
          <a:prstGeom prst="chevron">
            <a:avLst/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53912" y="2057400"/>
            <a:ext cx="1682496" cy="2148840"/>
          </a:xfrm>
          <a:prstGeom prst="roundRect">
            <a:avLst>
              <a:gd name="adj" fmla="val 2717"/>
            </a:avLst>
          </a:prstGeom>
          <a:solidFill>
            <a:srgbClr val="EAF0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2286000"/>
            <a:ext cx="530352" cy="5303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23865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45352" y="29992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91072" y="34015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Volumes, temps, mots, outils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63840" y="2880360"/>
            <a:ext cx="164592" cy="502920"/>
          </a:xfrm>
          <a:prstGeom prst="chevron">
            <a:avLst/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057400"/>
            <a:ext cx="1682496" cy="2148840"/>
          </a:xfrm>
          <a:prstGeom prst="roundRect">
            <a:avLst>
              <a:gd name="adj" fmla="val 2717"/>
            </a:avLst>
          </a:prstGeom>
          <a:solidFill>
            <a:srgbClr val="E7F7F7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3648" y="2286000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23865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29016" y="29992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74736" y="34015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Sentiment, topics, clustering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747504" y="2880360"/>
            <a:ext cx="164592" cy="502920"/>
          </a:xfrm>
          <a:prstGeom prst="chevron">
            <a:avLst/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21240" y="2057400"/>
            <a:ext cx="1682496" cy="2148840"/>
          </a:xfrm>
          <a:prstGeom prst="roundRect">
            <a:avLst>
              <a:gd name="adj" fmla="val 2717"/>
            </a:avLst>
          </a:prstGeom>
          <a:solidFill>
            <a:srgbClr val="EAF0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97312" y="2286000"/>
            <a:ext cx="530352" cy="5303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97312" y="23865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12680" y="29992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Restitution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058400" y="34015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tests, rapport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148840" y="4800600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attendu : un pipeline reproductible, interprétable, testé et démontrable.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Qualité et préparation des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L’audit a transformé le corpus brut en données prêtes pour l’analyse.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276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5 406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21762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lignes brutes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2880360" y="14173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6276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2 726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971800" y="21762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strictement liées à l’IA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5166360" y="14173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6276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257800" y="21762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doublons textuels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452360" y="14173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276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141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43800" y="21762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dates manquantes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9738360" y="14173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16276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2 666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829800" y="21762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lignes prêtes à analyser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85800" y="3063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063240"/>
            <a:ext cx="73152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28269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Problème détecté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1832" y="3721608"/>
            <a:ext cx="47731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filtrage initial recherchait « ai » comme une simple sous-chaîne. Des mots comme email, again ou maintain pouvaient donc être sélectionnés à tort.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063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063240"/>
            <a:ext cx="73152" cy="2286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328269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appliquée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9672" y="3721608"/>
            <a:ext cx="47731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 de mots, détection explicite des outils IA, identifiants qualifiés par source, déduplication du texte et conservation de plusieurs versions du contenu.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Méthodes d’analyse prévues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approche simple, explicable et compatible avec le délai du prototype.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56432" cy="434340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43434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36776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 exploratoire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075688"/>
            <a:ext cx="301752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Répartition par plateforme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Évolution temporelle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Longueur des textes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Fréquences lexicales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Bigrams et trigrams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Outils IA mentionnés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Nuages de mots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56432" cy="434340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636776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 de sentiment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6864" y="2075688"/>
            <a:ext cx="301752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VADER : baseline lexicale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Transformer préentraîné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Échantillon annoté manuellement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Comparaison des prédictions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Matrice de confusion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Analyse des erreurs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456432" cy="434340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417320"/>
            <a:ext cx="73152" cy="4343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636776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Thèmes et clusters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2075688"/>
            <a:ext cx="301752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TF-IDF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NMF pour les topics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K-Means pour le clustering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Termes dominants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Documents représentatifs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Noms de thèmes validés manuellement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État d’avancement et prochaines étapes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projet dispose déjà de la base de données et de la structure nécessaires pour terminer le prototype.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EAF7E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214884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Cadrage du sujet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960120" y="2766060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67462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et mots-clés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60120" y="3291840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0040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de collecte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60120" y="3817620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72618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brut : 5 406 lignes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4343400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25196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de qualité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0120" y="4869180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477774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prêt : 2 666 lignes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4160520" y="1353312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FFF5E8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cours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480560" y="22402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148840"/>
            <a:ext cx="245059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Présentation du pipeline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4480560" y="302895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937510"/>
            <a:ext cx="245059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technique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4480560" y="381762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3726180"/>
            <a:ext cx="245059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de l’art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4480560" y="460629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4514850"/>
            <a:ext cx="245059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du rapport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7680960" y="1353312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EEF3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À réaliser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001000" y="22402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214884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8001000" y="276606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267462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Comparaison du sentiment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8001000" y="32918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320040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modeling et clustering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8001000" y="381762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02168" y="372618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Streamlit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8001000" y="434340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02168" y="425196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et démonstration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8001000" y="48691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02168" y="4777740"/>
            <a:ext cx="245059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Finalisation du rapport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1417320" y="6080760"/>
            <a:ext cx="9372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Priorité immédiate : documenter ce qui est déjà terminé, puis exécuter l’EDA et les analyses NLP.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31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projet n’est pas bloqué par Reddit.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233172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collecte multi-source, l’audit de qualité et le dataset d’analyse sont déjà disponibles. La prochaine phase consiste à produire les analyses, les tests et le dashboard, puis à consolider les résultats dans le rapport final.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092440" y="155448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173D5C"/>
          </a:solidFill>
          <a:ln w="12700">
            <a:solidFill>
              <a:srgbClr val="2B52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676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Prochaine étape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66760" y="2606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technique du pipeline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5257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5742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Charifa FAX · Stage Data Science &amp; AI Sentiment Analysis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YaneCode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data-driven des perceptions des développeurs face à l’IA</dc:title>
  <dc:subject>Pipeline Data Science - AI Developer Sentiment Analysis</dc:subject>
  <dc:creator>Charifa FAX</dc:creator>
  <cp:lastModifiedBy>Charifa FAX</cp:lastModifiedBy>
  <cp:revision>1</cp:revision>
  <dcterms:created xsi:type="dcterms:W3CDTF">2026-07-23T14:30:44Z</dcterms:created>
  <dcterms:modified xsi:type="dcterms:W3CDTF">2026-07-23T14:30:44Z</dcterms:modified>
</cp:coreProperties>
</file>